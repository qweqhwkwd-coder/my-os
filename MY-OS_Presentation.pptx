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0" y="137160"/>
            <a:ext cx="402336" cy="402336"/>
          </a:xfrm>
          <a:prstGeom prst="rect">
            <a:avLst/>
          </a:prstGeom>
          <a:solidFill>
            <a:srgbClr val="E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59168" y="137160"/>
            <a:ext cx="402336" cy="402336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34656" y="137160"/>
            <a:ext cx="402336" cy="402336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10144" y="137160"/>
            <a:ext cx="402336" cy="402336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85632" y="137160"/>
            <a:ext cx="402336" cy="402336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612648"/>
            <a:ext cx="402336" cy="402336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59168" y="612648"/>
            <a:ext cx="402336" cy="402336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34656" y="612648"/>
            <a:ext cx="402336" cy="402336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10144" y="612648"/>
            <a:ext cx="402336" cy="402336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088136"/>
            <a:ext cx="402336" cy="402336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59168" y="1088136"/>
            <a:ext cx="402336" cy="402336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4656" y="1088136"/>
            <a:ext cx="402336" cy="402336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563624"/>
            <a:ext cx="402336" cy="402336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59168" y="1563624"/>
            <a:ext cx="402336" cy="402336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2039112"/>
            <a:ext cx="402336" cy="402336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502920"/>
            <a:ext cx="59436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Arial"/>
              </a:rPr>
              <a:t>MY·OS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487168"/>
            <a:ext cx="71323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spc="300">
                <a:solidFill>
                  <a:srgbClr val="E8FF00"/>
                </a:solidFill>
                <a:latin typeface="Arial"/>
              </a:rPr>
              <a:t>ПЕРСОНАЛЬНАЯ ОС ДЛЯ ЖИЗНИ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127248"/>
            <a:ext cx="7315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Telegram Mini App + Bot  ·  AI-layer  ·  RPG-геймификация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300">
                <a:solidFill>
                  <a:srgbClr val="E8FF00"/>
                </a:solidFill>
                <a:latin typeface="Courier New"/>
              </a:rPr>
              <a:t>КОНЦЕПЦИЯ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Не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планировщик.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Не трекер.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15468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spc="100">
                <a:solidFill>
                  <a:srgbClr val="E8FF00"/>
                </a:solidFill>
                <a:latin typeface="Arial"/>
              </a:rPr>
              <a:t>КАЖДОЕ ДЕЙСТВИЕ</a:t>
            </a:r>
          </a:p>
          <a:p>
            <a:pPr algn="l"/>
            <a:r>
              <a:rPr sz="1300" b="1" spc="100">
                <a:solidFill>
                  <a:srgbClr val="E8FF00"/>
                </a:solidFill>
                <a:latin typeface="Arial"/>
              </a:rPr>
              <a:t>МЕНЯЕТ ТВОИ СТАТЫ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84048"/>
            <a:ext cx="4206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MY-OS — персональная ОС для жизни.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932688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A9A"/>
                </a:solidFill>
                <a:latin typeface="Calibri"/>
              </a:rPr>
              <a:t>Всё что ты делаешь, ешь, тренируешь, думаешь и планируешь — в одном месте, с AI-слоем поверх.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011680"/>
            <a:ext cx="4206240" cy="8229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21031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🎮  Геймификация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41401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Действия → XP → Ранги. Прокачиваешь персонажа, которым являешься.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971800"/>
            <a:ext cx="4206240" cy="8229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30632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🤖  AI-слой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37413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Голос, фото, аналитика, персональный тренер — всё через AI.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931920"/>
            <a:ext cx="4206240" cy="8229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40233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⚡  Один мир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433425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17 модулей жизни: задачи, питание, тренировки, финансы, дневник.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300">
                <a:solidFill>
                  <a:srgbClr val="666666"/>
                </a:solidFill>
                <a:latin typeface="Courier New"/>
              </a:rPr>
              <a:t>RPG-СИСТЕМА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83210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Каждое действие прокачивает персонажа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581912" cy="3566160"/>
          </a:xfrm>
          <a:prstGeom prst="rect">
            <a:avLst/>
          </a:prstGeom>
          <a:solidFill>
            <a:srgbClr val="111100"/>
          </a:solidFill>
          <a:ln w="6350">
            <a:solidFill>
              <a:srgbClr val="E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15819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2011680"/>
            <a:ext cx="143560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8FF00"/>
                </a:solidFill>
                <a:latin typeface="Arial"/>
              </a:rPr>
              <a:t>Сила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2423160"/>
            <a:ext cx="14356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ourier New"/>
              </a:rPr>
              <a:t>0 – 5000 XP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52344"/>
            <a:ext cx="1307592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898648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Зал, турники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Калистеника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76472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+3 XP за рекорд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1234440"/>
            <a:ext cx="1581912" cy="356616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1417320"/>
            <a:ext cx="15819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2011680"/>
            <a:ext cx="143560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Выносливость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6272" y="2423160"/>
            <a:ext cx="14356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ourier New"/>
              </a:rPr>
              <a:t>0 – 5000 XP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2752344"/>
            <a:ext cx="1307592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898648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Бег, плавание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337560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Вело, джиу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776472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+4 XP по программе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1234440"/>
            <a:ext cx="1581912" cy="356616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1417320"/>
            <a:ext cx="15819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7912" y="2011680"/>
            <a:ext cx="143560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Питание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2" y="2423160"/>
            <a:ext cx="14356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ourier New"/>
              </a:rPr>
              <a:t>0 – 5000 XP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2752344"/>
            <a:ext cx="1307592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2898648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КБЖУ ±10% +5 XP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337560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Белок +3 XP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76472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Вода +2 XP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1234440"/>
            <a:ext cx="1581912" cy="356616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1417320"/>
            <a:ext cx="15819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2011680"/>
            <a:ext cx="143560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Дисциплина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9552" y="2423160"/>
            <a:ext cx="14356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ourier New"/>
              </a:rPr>
              <a:t>0 – 5000 XP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2752344"/>
            <a:ext cx="1307592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2898648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Ритуалы +2 XP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3337560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Задачи в срок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776472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Streak 7/7 +5 XP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1234440"/>
            <a:ext cx="1581912" cy="356616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1417320"/>
            <a:ext cx="15819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51192" y="2011680"/>
            <a:ext cx="143560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Рефлексия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1192" y="2423160"/>
            <a:ext cx="14356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ourier New"/>
              </a:rPr>
              <a:t>0 – 5000 XP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2752344"/>
            <a:ext cx="1307592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2898648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Дневник +4 XP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3337560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Цель +10 XP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3776472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Замеры +2 XP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4846320"/>
            <a:ext cx="8321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6666"/>
                </a:solidFill>
                <a:latin typeface="Calibri"/>
              </a:rPr>
              <a:t>🌱 Росток → 🥉 Бронза → 🥇 Золото → 💎 Кристалл → 👑 Легенда → 🌌 Божество  ·  10 рангов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300">
                <a:solidFill>
                  <a:srgbClr val="666666"/>
                </a:solidFill>
                <a:latin typeface="Courier New"/>
              </a:rPr>
              <a:t>17 МОДУЛЕЙ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83210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Один мир для всей жизни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1353312" cy="1042415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ourier New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Дашборд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261872"/>
            <a:ext cx="1353312" cy="1042415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35331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719072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Задачи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61872"/>
            <a:ext cx="1353312" cy="1042415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5331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719072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Ритуалы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261872"/>
            <a:ext cx="1353312" cy="1042415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35331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ourier New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719072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Встречи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261872"/>
            <a:ext cx="1353312" cy="1042415"/>
          </a:xfrm>
          <a:prstGeom prst="rect">
            <a:avLst/>
          </a:prstGeom>
          <a:solidFill>
            <a:srgbClr val="111100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35331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8FF00"/>
                </a:solidFill>
                <a:latin typeface="Courier New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1353312"/>
            <a:ext cx="2926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E8FF00"/>
                </a:solidFill>
                <a:latin typeface="Courier New"/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719072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Тренировки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261872"/>
            <a:ext cx="1353312" cy="1042415"/>
          </a:xfrm>
          <a:prstGeom prst="rect">
            <a:avLst/>
          </a:prstGeom>
          <a:solidFill>
            <a:srgbClr val="111100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19" y="135331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8FF00"/>
                </a:solidFill>
                <a:latin typeface="Courier New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1353312"/>
            <a:ext cx="2926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E8FF00"/>
                </a:solidFill>
                <a:latin typeface="Courier New"/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1719072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Питание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368296"/>
            <a:ext cx="1353312" cy="1042415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45973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ourier New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825496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Дневник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2368296"/>
            <a:ext cx="1353312" cy="1042415"/>
          </a:xfrm>
          <a:prstGeom prst="rect">
            <a:avLst/>
          </a:prstGeom>
          <a:solidFill>
            <a:srgbClr val="111100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245973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8FF00"/>
                </a:solidFill>
                <a:latin typeface="Courier New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98064" y="2459736"/>
            <a:ext cx="2926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E8FF00"/>
                </a:solidFill>
                <a:latin typeface="Courier New"/>
              </a:rPr>
              <a:t>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25496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Цели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2368296"/>
            <a:ext cx="1353312" cy="1042415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245973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ourier New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2825496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Идеи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368296"/>
            <a:ext cx="1353312" cy="1042415"/>
          </a:xfrm>
          <a:prstGeom prst="rect">
            <a:avLst/>
          </a:prstGeom>
          <a:solidFill>
            <a:srgbClr val="111100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245973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8FF00"/>
                </a:solidFill>
                <a:latin typeface="Courier New"/>
              </a:rP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32704" y="2459736"/>
            <a:ext cx="2926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E8FF00"/>
                </a:solidFill>
                <a:latin typeface="Courier New"/>
              </a:rPr>
              <a:t>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2825496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Дайджест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2368296"/>
            <a:ext cx="1353312" cy="1042415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245973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ourier New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825496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Профиль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2368296"/>
            <a:ext cx="1353312" cy="1042415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19" y="245973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ourier New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19" y="2825496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Сон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474720"/>
            <a:ext cx="1353312" cy="1042415"/>
          </a:xfrm>
          <a:prstGeom prst="rect">
            <a:avLst/>
          </a:prstGeom>
          <a:solidFill>
            <a:srgbClr val="111100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5661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8FF00"/>
                </a:solidFill>
                <a:latin typeface="Courier New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80744" y="356616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E8FF00"/>
                </a:solidFill>
                <a:latin typeface="Courier New"/>
              </a:rPr>
              <a:t>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3931920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Финансы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3474720"/>
            <a:ext cx="1353312" cy="1042415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0240" y="35661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ourier New"/>
              </a:rPr>
              <a:t>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3931920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Замеры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46120" y="3474720"/>
            <a:ext cx="1353312" cy="1042415"/>
          </a:xfrm>
          <a:prstGeom prst="rect">
            <a:avLst/>
          </a:prstGeom>
          <a:solidFill>
            <a:srgbClr val="111100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37560" y="35661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8FF00"/>
                </a:solidFill>
                <a:latin typeface="Courier New"/>
              </a:rPr>
              <a:t>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15384" y="356616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E8FF00"/>
                </a:solidFill>
                <a:latin typeface="Courier New"/>
              </a:rPr>
              <a:t>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37560" y="3931920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Inbox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3474720"/>
            <a:ext cx="1353312" cy="1042415"/>
          </a:xfrm>
          <a:prstGeom prst="rect">
            <a:avLst/>
          </a:prstGeom>
          <a:solidFill>
            <a:srgbClr val="111100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0" y="35661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8FF00"/>
                </a:solidFill>
                <a:latin typeface="Courier New"/>
              </a:rPr>
              <a:t>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2704" y="356616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E8FF00"/>
                </a:solidFill>
                <a:latin typeface="Courier New"/>
              </a:rPr>
              <a:t>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80" y="3931920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Баланс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3474720"/>
            <a:ext cx="1353312" cy="1042415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72200" y="35661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ourier New"/>
              </a:rPr>
              <a:t>16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2200" y="3931920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Уведомл.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98079" y="3474720"/>
            <a:ext cx="1353312" cy="1042415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89519" y="35661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ourier New"/>
              </a:rPr>
              <a:t>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19" y="3931920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Настройки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585216"/>
            <a:ext cx="146304" cy="146304"/>
          </a:xfrm>
          <a:prstGeom prst="rect">
            <a:avLst/>
          </a:prstGeom>
          <a:solidFill>
            <a:srgbClr val="111100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10528" y="56692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— AI-powered модули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300">
                <a:solidFill>
                  <a:srgbClr val="666666"/>
                </a:solidFill>
                <a:latin typeface="Courier New"/>
              </a:rPr>
              <a:t>AI-СЛОЙ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83210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AI везде, не отдельная функция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2651760" cy="960120"/>
          </a:xfrm>
          <a:prstGeom prst="rect">
            <a:avLst/>
          </a:prstGeom>
          <a:solidFill>
            <a:srgbClr val="111100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371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1389888"/>
            <a:ext cx="18470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Голос → Действие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737360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8FF00"/>
                </a:solidFill>
                <a:latin typeface="Courier New"/>
              </a:rPr>
              <a:t>Whisper + Groq Llama 70B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395728"/>
            <a:ext cx="2651760" cy="54864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2487168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9A9A"/>
                </a:solidFill>
                <a:latin typeface="Calibri"/>
              </a:rPr>
              <a:t>"пробежал 8км за 45 мин"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035808"/>
            <a:ext cx="2651760" cy="54864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3127248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9A9A"/>
                </a:solidFill>
                <a:latin typeface="Calibri"/>
              </a:rPr>
              <a:t>"потратил 200 злотых на еду"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675887"/>
            <a:ext cx="2651760" cy="54864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3767327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9A9A"/>
                </a:solidFill>
                <a:latin typeface="Calibri"/>
              </a:rPr>
              <a:t>"добавь задачу — купить протеин"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315968"/>
            <a:ext cx="2651760" cy="54864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4407407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9A9A"/>
                </a:solidFill>
                <a:latin typeface="Calibri"/>
              </a:rPr>
              <a:t>"болит поясница — полегче"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4408" y="1298448"/>
            <a:ext cx="2651760" cy="960120"/>
          </a:xfrm>
          <a:prstGeom prst="rect">
            <a:avLst/>
          </a:prstGeom>
          <a:solidFill>
            <a:srgbClr val="111100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1371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1389888"/>
            <a:ext cx="18470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Фото → КБЖУ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1737360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8FF00"/>
                </a:solidFill>
                <a:latin typeface="Courier New"/>
              </a:rPr>
              <a:t>Gemini 2.5 Flash Vision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64408" y="2395728"/>
            <a:ext cx="2651760" cy="54864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92424" y="2487168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9A9A"/>
                </a:solidFill>
                <a:latin typeface="Calibri"/>
              </a:rPr>
              <a:t>Фото этикетки → КБЖУ авто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3035808"/>
            <a:ext cx="2651760" cy="54864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92424" y="3127248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9A9A"/>
                </a:solidFill>
                <a:latin typeface="Calibri"/>
              </a:rPr>
              <a:t>Фото блюда → оценка + AI комментарий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64408" y="3675887"/>
            <a:ext cx="2651760" cy="54864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92424" y="3767327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9A9A"/>
                </a:solidFill>
                <a:latin typeface="Calibri"/>
              </a:rPr>
              <a:t>Нутрициолог после каждого приёма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4408" y="4315968"/>
            <a:ext cx="2651760" cy="54864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92424" y="4407407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9A9A"/>
                </a:solidFill>
                <a:latin typeface="Calibri"/>
              </a:rPr>
              <a:t>Дневная аналитика питания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17336" y="1298448"/>
            <a:ext cx="2651760" cy="960120"/>
          </a:xfrm>
          <a:prstGeom prst="rect">
            <a:avLst/>
          </a:prstGeom>
          <a:solidFill>
            <a:srgbClr val="111100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7064" y="1371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1389888"/>
            <a:ext cx="18470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AI-Аналитика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737360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8FF00"/>
                </a:solidFill>
                <a:latin typeface="Courier New"/>
              </a:rPr>
              <a:t>Gemini 2.5 Flash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17336" y="2395728"/>
            <a:ext cx="2651760" cy="54864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5352" y="2487168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9A9A"/>
                </a:solidFill>
                <a:latin typeface="Calibri"/>
              </a:rPr>
              <a:t>Недельный отчёт — каждое вск.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17336" y="3035808"/>
            <a:ext cx="2651760" cy="54864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2" y="3127248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9A9A"/>
                </a:solidFill>
                <a:latin typeface="Calibri"/>
              </a:rPr>
              <a:t>Корреляции: сон ↔ продуктивность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336" y="3675887"/>
            <a:ext cx="2651760" cy="54864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5352" y="3767327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9A9A"/>
                </a:solidFill>
                <a:latin typeface="Calibri"/>
              </a:rPr>
              <a:t>Колесо баланса → предложения целей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17336" y="4315968"/>
            <a:ext cx="2651760" cy="548640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5352" y="4407407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9A9A"/>
                </a:solidFill>
                <a:latin typeface="Calibri"/>
              </a:rPr>
              <a:t>Inbox → автокатегоризация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300">
                <a:solidFill>
                  <a:srgbClr val="666666"/>
                </a:solidFill>
                <a:latin typeface="Courier New"/>
              </a:rPr>
              <a:t>AI-ТРЕНЕР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83210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Персональный план, который адаптируется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5819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8FF00"/>
                </a:solidFill>
                <a:latin typeface="Courier New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55648"/>
            <a:ext cx="1581912" cy="2706624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3990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Профиль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04288"/>
            <a:ext cx="139903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Цели, опыт,</a:t>
            </a:r>
          </a:p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ограничения,</a:t>
            </a:r>
          </a:p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оборудование,</a:t>
            </a:r>
          </a:p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дней/неделю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2536" y="2926080"/>
            <a:ext cx="10972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FF00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280160"/>
            <a:ext cx="15819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8FF00"/>
                </a:solidFill>
                <a:latin typeface="Courier New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755648"/>
            <a:ext cx="1581912" cy="2706624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865376"/>
            <a:ext cx="13990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Тесты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304288"/>
            <a:ext cx="139903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8 физических</a:t>
            </a:r>
          </a:p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тестов: отжимания,</a:t>
            </a:r>
          </a:p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VO2max, гибкость,</a:t>
            </a:r>
          </a:p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планка...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926080"/>
            <a:ext cx="10972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FF00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280160"/>
            <a:ext cx="15819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8FF00"/>
                </a:solidFill>
                <a:latin typeface="Courier New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1755648"/>
            <a:ext cx="1581912" cy="2706624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865376"/>
            <a:ext cx="13990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Программа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304288"/>
            <a:ext cx="139903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Недельный сплит</a:t>
            </a:r>
          </a:p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+ периодизация:</a:t>
            </a:r>
          </a:p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накопление →</a:t>
            </a:r>
          </a:p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интенсив → разгрузка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5816" y="2926080"/>
            <a:ext cx="10972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FF00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280160"/>
            <a:ext cx="15819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8FF00"/>
                </a:solidFill>
                <a:latin typeface="Courier New"/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1755648"/>
            <a:ext cx="1581912" cy="2706624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1865376"/>
            <a:ext cx="13990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Фидбек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304288"/>
            <a:ext cx="139903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После тренировки:</a:t>
            </a:r>
          </a:p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😰 Тяжело</a:t>
            </a:r>
          </a:p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😐 Нормально</a:t>
            </a:r>
          </a:p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😎 Легко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6" y="2926080"/>
            <a:ext cx="10972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FF00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1280160"/>
            <a:ext cx="15819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8FF00"/>
                </a:solidFill>
                <a:latin typeface="Courier New"/>
              </a:rP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1755648"/>
            <a:ext cx="1581912" cy="2706624"/>
          </a:xfrm>
          <a:prstGeom prst="rect">
            <a:avLst/>
          </a:prstGeom>
          <a:solidFill>
            <a:srgbClr val="161616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1865376"/>
            <a:ext cx="13990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Адаптация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304288"/>
            <a:ext cx="139903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AI меняет план</a:t>
            </a:r>
          </a:p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на основе сна,</a:t>
            </a:r>
          </a:p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питания и стресса</a:t>
            </a:r>
          </a:p>
          <a:p>
            <a:pPr algn="ctr"/>
            <a:r>
              <a:rPr sz="950" b="0">
                <a:solidFill>
                  <a:srgbClr val="9A9A9A"/>
                </a:solidFill>
                <a:latin typeface="Calibri"/>
              </a:rPr>
              <a:t>из всех модулей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617720"/>
            <a:ext cx="8321040" cy="329184"/>
          </a:xfrm>
          <a:prstGeom prst="rect">
            <a:avLst/>
          </a:prstGeom>
          <a:solidFill>
            <a:srgbClr val="111100"/>
          </a:solidFill>
          <a:ln w="63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66344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E8FF00"/>
                </a:solidFill>
                <a:latin typeface="Calibri"/>
              </a:rPr>
              <a:t>AI видит контекст всех модулей  ·  плохой сон → снижает нагрузку  ·  стресс → подвижность вместо интенсива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